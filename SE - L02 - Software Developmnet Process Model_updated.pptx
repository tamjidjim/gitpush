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ink/ink1.xml" ContentType="application/inkml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2"/>
  </p:notesMasterIdLst>
  <p:sldIdLst>
    <p:sldId id="256" r:id="rId2"/>
    <p:sldId id="293" r:id="rId3"/>
    <p:sldId id="296" r:id="rId4"/>
    <p:sldId id="298" r:id="rId5"/>
    <p:sldId id="299" r:id="rId6"/>
    <p:sldId id="303" r:id="rId7"/>
    <p:sldId id="295" r:id="rId8"/>
    <p:sldId id="311" r:id="rId9"/>
    <p:sldId id="312" r:id="rId10"/>
    <p:sldId id="31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40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DD0F88-8A1D-469E-9A4D-0D864E33DB38}" v="2" dt="2025-03-08T13:33:29.0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3" autoAdjust="0"/>
    <p:restoredTop sz="93447" autoAdjust="0"/>
  </p:normalViewPr>
  <p:slideViewPr>
    <p:cSldViewPr snapToGrid="0">
      <p:cViewPr varScale="1">
        <p:scale>
          <a:sx n="59" d="100"/>
          <a:sy n="59" d="100"/>
        </p:scale>
        <p:origin x="772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kat Baul" userId="dae859d7-ea3e-4a5d-83a1-d953f3940120" providerId="ADAL" clId="{E3DD0F88-8A1D-469E-9A4D-0D864E33DB38}"/>
    <pc:docChg chg="undo redo custSel modSld">
      <pc:chgData name="Saikat Baul" userId="dae859d7-ea3e-4a5d-83a1-d953f3940120" providerId="ADAL" clId="{E3DD0F88-8A1D-469E-9A4D-0D864E33DB38}" dt="2025-03-10T03:43:41.651" v="181" actId="207"/>
      <pc:docMkLst>
        <pc:docMk/>
      </pc:docMkLst>
      <pc:sldChg chg="modSp mod">
        <pc:chgData name="Saikat Baul" userId="dae859d7-ea3e-4a5d-83a1-d953f3940120" providerId="ADAL" clId="{E3DD0F88-8A1D-469E-9A4D-0D864E33DB38}" dt="2025-03-01T08:39:47.323" v="23" actId="1076"/>
        <pc:sldMkLst>
          <pc:docMk/>
          <pc:sldMk cId="2664565021" sldId="256"/>
        </pc:sldMkLst>
        <pc:spChg chg="mod">
          <ac:chgData name="Saikat Baul" userId="dae859d7-ea3e-4a5d-83a1-d953f3940120" providerId="ADAL" clId="{E3DD0F88-8A1D-469E-9A4D-0D864E33DB38}" dt="2025-03-01T08:39:47.323" v="23" actId="1076"/>
          <ac:spMkLst>
            <pc:docMk/>
            <pc:sldMk cId="2664565021" sldId="256"/>
            <ac:spMk id="24" creationId="{C2082529-78D7-4EA7-BFF9-A1D1F62040C8}"/>
          </ac:spMkLst>
        </pc:spChg>
      </pc:sldChg>
      <pc:sldChg chg="modSp mod">
        <pc:chgData name="Saikat Baul" userId="dae859d7-ea3e-4a5d-83a1-d953f3940120" providerId="ADAL" clId="{E3DD0F88-8A1D-469E-9A4D-0D864E33DB38}" dt="2025-03-03T14:06:46.512" v="28" actId="14100"/>
        <pc:sldMkLst>
          <pc:docMk/>
          <pc:sldMk cId="3411684674" sldId="293"/>
        </pc:sldMkLst>
        <pc:spChg chg="mod">
          <ac:chgData name="Saikat Baul" userId="dae859d7-ea3e-4a5d-83a1-d953f3940120" providerId="ADAL" clId="{E3DD0F88-8A1D-469E-9A4D-0D864E33DB38}" dt="2025-03-03T14:06:46.512" v="28" actId="14100"/>
          <ac:spMkLst>
            <pc:docMk/>
            <pc:sldMk cId="3411684674" sldId="293"/>
            <ac:spMk id="3" creationId="{00000000-0000-0000-0000-000000000000}"/>
          </ac:spMkLst>
        </pc:spChg>
      </pc:sldChg>
      <pc:sldChg chg="modSp mod">
        <pc:chgData name="Saikat Baul" userId="dae859d7-ea3e-4a5d-83a1-d953f3940120" providerId="ADAL" clId="{E3DD0F88-8A1D-469E-9A4D-0D864E33DB38}" dt="2025-03-03T16:54:26.759" v="33" actId="14100"/>
        <pc:sldMkLst>
          <pc:docMk/>
          <pc:sldMk cId="3925133192" sldId="298"/>
        </pc:sldMkLst>
        <pc:spChg chg="mod">
          <ac:chgData name="Saikat Baul" userId="dae859d7-ea3e-4a5d-83a1-d953f3940120" providerId="ADAL" clId="{E3DD0F88-8A1D-469E-9A4D-0D864E33DB38}" dt="2025-03-03T16:54:26.759" v="33" actId="14100"/>
          <ac:spMkLst>
            <pc:docMk/>
            <pc:sldMk cId="3925133192" sldId="298"/>
            <ac:spMk id="3" creationId="{00000000-0000-0000-0000-000000000000}"/>
          </ac:spMkLst>
        </pc:spChg>
        <pc:picChg chg="mod">
          <ac:chgData name="Saikat Baul" userId="dae859d7-ea3e-4a5d-83a1-d953f3940120" providerId="ADAL" clId="{E3DD0F88-8A1D-469E-9A4D-0D864E33DB38}" dt="2025-03-03T16:54:17.100" v="32" actId="1076"/>
          <ac:picMkLst>
            <pc:docMk/>
            <pc:sldMk cId="3925133192" sldId="298"/>
            <ac:picMk id="6" creationId="{00000000-0000-0000-0000-000000000000}"/>
          </ac:picMkLst>
        </pc:picChg>
      </pc:sldChg>
      <pc:sldChg chg="addSp delSp modSp mod modNotesTx">
        <pc:chgData name="Saikat Baul" userId="dae859d7-ea3e-4a5d-83a1-d953f3940120" providerId="ADAL" clId="{E3DD0F88-8A1D-469E-9A4D-0D864E33DB38}" dt="2025-03-08T13:56:35.636" v="145" actId="20577"/>
        <pc:sldMkLst>
          <pc:docMk/>
          <pc:sldMk cId="1632695831" sldId="300"/>
        </pc:sldMkLst>
        <pc:spChg chg="add del mod">
          <ac:chgData name="Saikat Baul" userId="dae859d7-ea3e-4a5d-83a1-d953f3940120" providerId="ADAL" clId="{E3DD0F88-8A1D-469E-9A4D-0D864E33DB38}" dt="2025-03-08T13:34:06.347" v="100" actId="208"/>
          <ac:spMkLst>
            <pc:docMk/>
            <pc:sldMk cId="1632695831" sldId="300"/>
            <ac:spMk id="3" creationId="{00000000-0000-0000-0000-000000000000}"/>
          </ac:spMkLst>
        </pc:spChg>
        <pc:spChg chg="add mod">
          <ac:chgData name="Saikat Baul" userId="dae859d7-ea3e-4a5d-83a1-d953f3940120" providerId="ADAL" clId="{E3DD0F88-8A1D-469E-9A4D-0D864E33DB38}" dt="2025-03-08T13:34:30.433" v="133" actId="20577"/>
          <ac:spMkLst>
            <pc:docMk/>
            <pc:sldMk cId="1632695831" sldId="300"/>
            <ac:spMk id="7" creationId="{FF9B66A1-42A4-B4A2-FF41-E6481BE1F974}"/>
          </ac:spMkLst>
        </pc:spChg>
        <pc:picChg chg="mod">
          <ac:chgData name="Saikat Baul" userId="dae859d7-ea3e-4a5d-83a1-d953f3940120" providerId="ADAL" clId="{E3DD0F88-8A1D-469E-9A4D-0D864E33DB38}" dt="2025-03-08T13:33:29.087" v="94" actId="1076"/>
          <ac:picMkLst>
            <pc:docMk/>
            <pc:sldMk cId="1632695831" sldId="300"/>
            <ac:picMk id="1026" creationId="{00000000-0000-0000-0000-000000000000}"/>
          </ac:picMkLst>
        </pc:picChg>
      </pc:sldChg>
      <pc:sldChg chg="modSp mod">
        <pc:chgData name="Saikat Baul" userId="dae859d7-ea3e-4a5d-83a1-d953f3940120" providerId="ADAL" clId="{E3DD0F88-8A1D-469E-9A4D-0D864E33DB38}" dt="2025-03-08T14:01:51.404" v="180" actId="20577"/>
        <pc:sldMkLst>
          <pc:docMk/>
          <pc:sldMk cId="2476521425" sldId="304"/>
        </pc:sldMkLst>
        <pc:spChg chg="mod">
          <ac:chgData name="Saikat Baul" userId="dae859d7-ea3e-4a5d-83a1-d953f3940120" providerId="ADAL" clId="{E3DD0F88-8A1D-469E-9A4D-0D864E33DB38}" dt="2025-03-08T14:01:51.404" v="180" actId="20577"/>
          <ac:spMkLst>
            <pc:docMk/>
            <pc:sldMk cId="2476521425" sldId="304"/>
            <ac:spMk id="3" creationId="{00000000-0000-0000-0000-000000000000}"/>
          </ac:spMkLst>
        </pc:spChg>
      </pc:sldChg>
      <pc:sldChg chg="modSp mod">
        <pc:chgData name="Saikat Baul" userId="dae859d7-ea3e-4a5d-83a1-d953f3940120" providerId="ADAL" clId="{E3DD0F88-8A1D-469E-9A4D-0D864E33DB38}" dt="2025-03-10T03:43:41.651" v="181" actId="207"/>
        <pc:sldMkLst>
          <pc:docMk/>
          <pc:sldMk cId="300910314" sldId="307"/>
        </pc:sldMkLst>
        <pc:spChg chg="mod">
          <ac:chgData name="Saikat Baul" userId="dae859d7-ea3e-4a5d-83a1-d953f3940120" providerId="ADAL" clId="{E3DD0F88-8A1D-469E-9A4D-0D864E33DB38}" dt="2025-03-10T03:43:41.651" v="181" actId="207"/>
          <ac:spMkLst>
            <pc:docMk/>
            <pc:sldMk cId="300910314" sldId="307"/>
            <ac:spMk id="16" creationId="{00000000-0000-0000-0000-000000000000}"/>
          </ac:spMkLst>
        </pc:spChg>
        <pc:spChg chg="mod">
          <ac:chgData name="Saikat Baul" userId="dae859d7-ea3e-4a5d-83a1-d953f3940120" providerId="ADAL" clId="{E3DD0F88-8A1D-469E-9A4D-0D864E33DB38}" dt="2025-03-10T03:43:41.651" v="181" actId="207"/>
          <ac:spMkLst>
            <pc:docMk/>
            <pc:sldMk cId="300910314" sldId="307"/>
            <ac:spMk id="17" creationId="{00000000-0000-0000-0000-000000000000}"/>
          </ac:spMkLst>
        </pc:spChg>
        <pc:spChg chg="mod">
          <ac:chgData name="Saikat Baul" userId="dae859d7-ea3e-4a5d-83a1-d953f3940120" providerId="ADAL" clId="{E3DD0F88-8A1D-469E-9A4D-0D864E33DB38}" dt="2025-03-10T03:43:41.651" v="181" actId="207"/>
          <ac:spMkLst>
            <pc:docMk/>
            <pc:sldMk cId="300910314" sldId="307"/>
            <ac:spMk id="18" creationId="{00000000-0000-0000-0000-000000000000}"/>
          </ac:spMkLst>
        </pc:spChg>
        <pc:spChg chg="mod">
          <ac:chgData name="Saikat Baul" userId="dae859d7-ea3e-4a5d-83a1-d953f3940120" providerId="ADAL" clId="{E3DD0F88-8A1D-469E-9A4D-0D864E33DB38}" dt="2025-03-10T03:43:41.651" v="181" actId="207"/>
          <ac:spMkLst>
            <pc:docMk/>
            <pc:sldMk cId="300910314" sldId="307"/>
            <ac:spMk id="19" creationId="{00000000-0000-0000-0000-000000000000}"/>
          </ac:spMkLst>
        </pc:spChg>
        <pc:spChg chg="mod">
          <ac:chgData name="Saikat Baul" userId="dae859d7-ea3e-4a5d-83a1-d953f3940120" providerId="ADAL" clId="{E3DD0F88-8A1D-469E-9A4D-0D864E33DB38}" dt="2025-03-10T03:43:41.651" v="181" actId="207"/>
          <ac:spMkLst>
            <pc:docMk/>
            <pc:sldMk cId="300910314" sldId="307"/>
            <ac:spMk id="20" creationId="{00000000-0000-0000-0000-000000000000}"/>
          </ac:spMkLst>
        </pc:spChg>
        <pc:spChg chg="mod">
          <ac:chgData name="Saikat Baul" userId="dae859d7-ea3e-4a5d-83a1-d953f3940120" providerId="ADAL" clId="{E3DD0F88-8A1D-469E-9A4D-0D864E33DB38}" dt="2025-03-10T03:43:41.651" v="181" actId="207"/>
          <ac:spMkLst>
            <pc:docMk/>
            <pc:sldMk cId="300910314" sldId="307"/>
            <ac:spMk id="26" creationId="{00000000-0000-0000-0000-000000000000}"/>
          </ac:spMkLst>
        </pc:spChg>
      </pc:sldChg>
    </pc:docChg>
  </pc:docChgLst>
  <pc:docChgLst>
    <pc:chgData name="Farzana Bente Alam" userId="3f74bd13-d3c2-4c92-803f-cee23a0d21b8" providerId="ADAL" clId="{27AC36B6-6117-403C-9CA1-F33B43EB0339}"/>
    <pc:docChg chg="modSld">
      <pc:chgData name="Farzana Bente Alam" userId="3f74bd13-d3c2-4c92-803f-cee23a0d21b8" providerId="ADAL" clId="{27AC36B6-6117-403C-9CA1-F33B43EB0339}" dt="2024-11-03T06:15:54.186" v="0" actId="1036"/>
      <pc:docMkLst>
        <pc:docMk/>
      </pc:docMkLst>
      <pc:sldChg chg="modSp mod">
        <pc:chgData name="Farzana Bente Alam" userId="3f74bd13-d3c2-4c92-803f-cee23a0d21b8" providerId="ADAL" clId="{27AC36B6-6117-403C-9CA1-F33B43EB0339}" dt="2024-11-03T06:15:54.186" v="0" actId="1036"/>
        <pc:sldMkLst>
          <pc:docMk/>
          <pc:sldMk cId="1632695831" sldId="300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6-02-08T07:53:11.058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3122 8255 0,'0'35'172,"0"1"-157,18-36-15,-1 17 16,-17 18 0,0 54-1,0-72-15,0 36 16,18 0 0,-18-35-1,18 17-15,-1-35 16,-17 18-16,0-1 15,0 1-15,0 17 16,18-35 109,0 0-109,17-35-1,53-36 1,-70 54 0,-1-1-16,1 0 0,17 18 0,-17-35 0</inkml:trace>
  <inkml:trace contextRef="#ctx0" brushRef="#br0" timeOffset="438.69">3616 8467 0,'18'-18'0,"-36"36"0,53-54 0,18-17 15,-18 36 17,-17-18-17,35-1 1,-35 19-16,-1-1 16,54-53-1,-54 36 1,1 18-1,-18-1-15,18 0 16,-1-35 0,19 53-1,-36-35 1,35 17 15,-35 1 0,0-1-31,18 18 16,-1 0 0,1-17-16</inkml:trace>
  <inkml:trace contextRef="#ctx0" brushRef="#br0" timeOffset="41588.03">16157 8202 0,'18'0'188,"-18"35"-142,35-35-30,-35 18 0,18-18 109,-1 0-63,1 0-46,0 0-1,-18 18 17,0-1-17,17-17 32,36-17-16,-17-1-15,-19 18 0,18-35-1,1 17 1,-36 0 0,35 1 30,18-36-30,-18 53-16,-35-18 16,35 18-16,1-17 0,34-36 15,-52 35 1,53-17-16,-36 0 16,-18 17-1,19 18 32,-1-35-31,-17 35-16,17-18 15,-35 0-15,18 18 0,-1-17 16,18-19 0,-17 36-16,-18-17 15</inkml:trace>
  <inkml:trace contextRef="#ctx0" brushRef="#br0" timeOffset="47430.21">29457 8008 0,'35'53'125,"-17"18"-78,17-19-16,71 125 0,-35-54-15,-54-87-16,1-19 0,17 18 15,-35-17 1,35-18 62,124-123-47,-124 105-31,1-17 0,246-177 32,-247 177-32,177-124 31,-124 53 0,-70 106-31,-1-53 16,-17 18-16,53-18 15,-35 53-15,17-70 16,-17 52-16,-18 0 0,70-52 16,19-1-1,-72 54 1</inkml:trace>
  <inkml:trace contextRef="#ctx0" brushRef="#br0" timeOffset="61038.64">22225 10777 0,'35'71'125,"-35"52"-93,0-105-1,36-18 47,-1-18-62,-18 1-16,1-1 0,17 0 15,1-17-15,140-71 16,-123 89-16,0-36 15,-18 35-15,89-52 0,-89 34 16,106-69-16,18-1 16,-89 0-1,-52 106 1,17-18-16,18-52 16,35 17-1,-35 17 1,-53 19-1</inkml:trace>
  <inkml:trace contextRef="#ctx0" brushRef="#br0" timeOffset="70960.06">3422 10866 0,'0'70'187,"-53"18"-171,53-70-16,0 0 0,-18 17 0,1-18 15,-1-17-15,0 18 0,18 17 0,-35 1 16,-18 34 0,36-52-16,-1 52 15,-17-34 1,35-1-1,-18 0 1,0-17-16,-17 35 16,18 35-1,-1-70 1,18 35-16,-18 35 16,18-53-1,-17 71-15,-19-36 16,36-34-1,0-19 1,0 1 62,0 0-62,18-18-16,17 17 15,1 1 1,-19-18-16,36 35 16,18 0-1,-54-35-15,1 18 16,17-18 0,-17 18-1,-1-18-15,1 17 16,17 19-16,36-19 31,-71 1-31,18-18 16,34 35-1,54 18 1,-17-35 0,-72-18-16,54 17 15,-18 1 1,0-18-1,-36 0 1</inkml:trace>
  <inkml:trace contextRef="#ctx0" brushRef="#br0" timeOffset="77115.75">24765 11642 0,'35'35'94,"-17"0"-79,-18-17-15,35 17 63,-35 53-32,18-70-31,17 70 31,18 0 1,-53-70-17,18 0 1,17-18 109,53 0-94,18 0 0,53-18 1,-142 18-32,1 0 15,17-18 1,-17 1-16,0 17 16,-1 0-16,1 0 0,-1-18 15,89-35 1,-106 36-16,71-19 15,-1-17 1,-34 36 0,-19 17-1,1 0 1,17-18 0,1 0-1,16-17 1,-16 0-1,-1 35 1,-17 0-16,-1-18 16,1 18-16,0-17 0,-18-1 15,35 0 1,-18 18 15,1-17-15,0-1-16,-1 18 62,19-18-46</inkml:trace>
  <inkml:trace contextRef="#ctx0" brushRef="#br0" timeOffset="113541.47">29263 9366 0,'0'36'109,"-18"16"-93,18-34-16,0 0 0,-17-1 16,17 1-1,0 17 126,53-52-79,35-36-46,-71 53-16,19-18 0,17-17 16,70-53-1,-88 70-15,54-35 16,-72 35-16,1 1 0,17-1 16,36 1-1,-71-1-15,35 0 16,-17 18-16,17-35 15,-35 17 1,70 1-16,-34-19 16,-19 36-16,36-35 0,-35 17 15,35 1-15,-18-1 0,18 1 16,-53-1 0</inkml:trace>
  <inkml:trace contextRef="#ctx0" brushRef="#br0" timeOffset="115257.25">1305 9701 0,'0'53'125,"36"177"-94,-36-213-31,35 36 15,0-53 1,-35 18-16,18-18 31,35 0-15,35 0 0,141-35-1,-141-36-15,283-194 16,-212 177-16,-36-18 15,159-70-15,212-124 16,-406 265-16,0-18 16,1 18-16,34-18 0,-70 0 15,-53 35 1,35 1 62,36-36-62,-71 35-16,18 18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10FD6-79C5-4041-8E7A-89350618D070}" type="datetimeFigureOut">
              <a:rPr lang="en-GB" smtClean="0"/>
              <a:pPr/>
              <a:t>09/02/2026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6CA59-B645-4A00-A667-3A942CDB8E2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805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77324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9371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22041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05791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7773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FDFDB9-D628-4A18-8BA7-33EF406917E6}" type="datetime1">
              <a:rPr lang="en-US" smtClean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DB41-4229-47AF-BA03-C191A66FB94C}" type="datetime1">
              <a:rPr lang="en-US" smtClean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392D4-64E7-470C-9229-F729BA72710A}" type="datetime1">
              <a:rPr lang="en-US" smtClean="0"/>
              <a:pPr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D79C-F41C-4E95-A4BE-2712B8C4A412}" type="datetime1">
              <a:rPr lang="en-US" smtClean="0"/>
              <a:pPr/>
              <a:t>2/9/2026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E8F3-6A5D-412D-87FA-D951F64E80C1}" type="datetime1">
              <a:rPr lang="en-US" smtClean="0"/>
              <a:pPr/>
              <a:t>2/9/2026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F486A-D265-402A-B6CD-5D626FC3EDC7}" type="datetime1">
              <a:rPr lang="en-US" smtClean="0"/>
              <a:pPr/>
              <a:t>2/9/2026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416B92-2D29-4309-8FD4-8EC023BBFD61}" type="datetime1">
              <a:rPr lang="en-US" smtClean="0"/>
              <a:pPr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4BAD-8657-4978-A2B2-B1BBE7089EFE}" type="datetime1">
              <a:rPr lang="en-US" smtClean="0"/>
              <a:pPr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1AF3-EEF6-43B0-9CB4-662539EFD2B2}" type="datetime1">
              <a:rPr lang="en-US" smtClean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1272FE-5A2D-492A-8166-5DAA8B18B7EA}" type="datetime1">
              <a:rPr lang="en-US" smtClean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jubayer@aiub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scholar.google.com/citations?view_op=list_works&amp;hl=en&amp;hl=en&amp;user=WXtW1XMAAAAJ" TargetMode="Externa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customXml" Target="../ink/ink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68267" y="1009397"/>
            <a:ext cx="3078342" cy="48014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</a:rPr>
              <a:t>Software engineering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768267" y="1009397"/>
            <a:ext cx="3078342" cy="4801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u="sng" cap="all" dirty="0">
                <a:solidFill>
                  <a:srgbClr val="FFFFFF"/>
                </a:solidFill>
              </a:rPr>
              <a:t>Course Name</a:t>
            </a:r>
            <a:br>
              <a:rPr lang="en-US" sz="2400" cap="all" dirty="0">
                <a:solidFill>
                  <a:srgbClr val="FFFFFF"/>
                </a:solidFill>
              </a:rPr>
            </a:br>
            <a:br>
              <a:rPr lang="en-US" sz="2400" cap="all" dirty="0">
                <a:solidFill>
                  <a:srgbClr val="FFFFFF"/>
                </a:solidFill>
              </a:rPr>
            </a:br>
            <a:r>
              <a:rPr lang="en-US" sz="2400" cap="all" dirty="0">
                <a:solidFill>
                  <a:srgbClr val="FFFFFF"/>
                </a:solidFill>
              </a:rPr>
              <a:t>software engineering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CSC 3114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4471587" y="1005840"/>
            <a:ext cx="7181903" cy="1383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>
                <a:solidFill>
                  <a:srgbClr val="C00000"/>
                </a:solidFill>
              </a:rPr>
              <a:t>Chapter 2</a:t>
            </a:r>
            <a:br>
              <a:rPr lang="en-US" sz="3000" dirty="0">
                <a:solidFill>
                  <a:srgbClr val="C00000"/>
                </a:solidFill>
              </a:rPr>
            </a:br>
            <a:br>
              <a:rPr lang="en-US" sz="3000" dirty="0">
                <a:solidFill>
                  <a:schemeClr val="tx2"/>
                </a:solidFill>
              </a:rPr>
            </a:br>
            <a:r>
              <a:rPr lang="en-US" sz="3000" dirty="0">
                <a:solidFill>
                  <a:schemeClr val="tx2"/>
                </a:solidFill>
              </a:rPr>
              <a:t>software development process model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C2082529-78D7-4EA7-BFF9-A1D1F62040C8}"/>
              </a:ext>
            </a:extLst>
          </p:cNvPr>
          <p:cNvSpPr txBox="1">
            <a:spLocks/>
          </p:cNvSpPr>
          <p:nvPr/>
        </p:nvSpPr>
        <p:spPr>
          <a:xfrm>
            <a:off x="8876288" y="3715404"/>
            <a:ext cx="3557012" cy="142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dirty="0">
                <a:solidFill>
                  <a:srgbClr val="7030A0"/>
                </a:solidFill>
              </a:rPr>
              <a:t>JUBAYER AHAMED</a:t>
            </a:r>
          </a:p>
          <a:p>
            <a:r>
              <a:rPr lang="en-US" sz="2400" dirty="0">
                <a:solidFill>
                  <a:schemeClr val="tx1"/>
                </a:solidFill>
              </a:rPr>
              <a:t>Lecturer, CS,  AIUB</a:t>
            </a:r>
          </a:p>
          <a:p>
            <a:r>
              <a:rPr lang="en-US" sz="2400" cap="none" dirty="0">
                <a:solidFill>
                  <a:schemeClr val="tx1"/>
                </a:solidFill>
                <a:hlinkClick r:id="rId3"/>
              </a:rPr>
              <a:t>jubayer@aiub.edu</a:t>
            </a:r>
            <a:r>
              <a:rPr lang="en-US" sz="2400" cap="none" dirty="0">
                <a:solidFill>
                  <a:schemeClr val="tx1"/>
                </a:solidFill>
              </a:rPr>
              <a:t> </a:t>
            </a:r>
            <a:endParaRPr lang="en-US" sz="2800" cap="none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4350774" y="796413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E5F233-5F84-472A-B835-11475F02A795}"/>
              </a:ext>
            </a:extLst>
          </p:cNvPr>
          <p:cNvCxnSpPr/>
          <p:nvPr/>
        </p:nvCxnSpPr>
        <p:spPr>
          <a:xfrm>
            <a:off x="4340942" y="2969341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" name="Picture 2" descr="Google Scholar Logo PNG Vector (AI, PDF ...">
            <a:extLst>
              <a:ext uri="{FF2B5EF4-FFF2-40B4-BE49-F238E27FC236}">
                <a16:creationId xmlns:a16="http://schemas.microsoft.com/office/drawing/2014/main" id="{CE63CACF-36DE-9C52-3964-4DA46A7E16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9854" y="4537491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0B9FA1C-4DA2-8243-927D-F366802C38D3}"/>
              </a:ext>
            </a:extLst>
          </p:cNvPr>
          <p:cNvSpPr txBox="1"/>
          <p:nvPr/>
        </p:nvSpPr>
        <p:spPr>
          <a:xfrm>
            <a:off x="6438364" y="5487699"/>
            <a:ext cx="5512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5"/>
              </a:rPr>
              <a:t>https://scholar.google.com/citations?view_op=list_works&amp;hl=en&amp;hl=en&amp;user=WXtW1XMAAAAJ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3261" y="2024743"/>
            <a:ext cx="10652865" cy="223410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GB" sz="2200" dirty="0">
                <a:latin typeface="+mj-lt"/>
              </a:rPr>
              <a:t>A structured set of activities required to develop a software system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GB" sz="2200" dirty="0">
                <a:latin typeface="+mj-lt"/>
              </a:rPr>
              <a:t>A software process model is an abstract representation of a process.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GB" sz="2200" dirty="0">
                <a:latin typeface="+mj-lt"/>
              </a:rPr>
              <a:t>It presents a description of a process from some particular perspective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Waterfall model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65738" y="1996441"/>
            <a:ext cx="9241302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957943" y="3154016"/>
            <a:ext cx="10652865" cy="356483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GB" sz="2200" b="1" dirty="0">
                <a:latin typeface="+mj-lt"/>
                <a:cs typeface="Times New Roman" panose="02020603050405020304" pitchFamily="18" charset="0"/>
              </a:rPr>
              <a:t>The waterfall or linear sequential model </a:t>
            </a:r>
          </a:p>
          <a:p>
            <a:pPr marL="0" indent="0">
              <a:buNone/>
            </a:pPr>
            <a:r>
              <a:rPr lang="en-GB" sz="2200" dirty="0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Problems of the Waterfall Model</a:t>
            </a:r>
            <a:r>
              <a:rPr lang="en-GB" sz="2200" dirty="0">
                <a:latin typeface="+mj-lt"/>
                <a:cs typeface="Times New Roman" panose="02020603050405020304" pitchFamily="18" charset="0"/>
              </a:rPr>
              <a:t>  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200" dirty="0">
                <a:latin typeface="+mj-lt"/>
                <a:cs typeface="Times New Roman" panose="02020603050405020304" pitchFamily="18" charset="0"/>
              </a:rPr>
              <a:t>Inflexible partitioning of the project into distinct stages. The </a:t>
            </a:r>
            <a:r>
              <a:rPr lang="en-US" sz="2200" dirty="0">
                <a:latin typeface="+mj-lt"/>
                <a:cs typeface="Times New Roman" panose="02020603050405020304" pitchFamily="18" charset="0"/>
              </a:rPr>
              <a:t>next phase starts only after the completion of the previous phase</a:t>
            </a:r>
            <a:endParaRPr lang="en-GB" sz="2200" dirty="0">
              <a:latin typeface="+mj-lt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GB" sz="2200" dirty="0">
                <a:latin typeface="+mj-lt"/>
                <a:cs typeface="Times New Roman" panose="02020603050405020304" pitchFamily="18" charset="0"/>
              </a:rPr>
              <a:t>This makes it difficult to respond to changing customer requirements (no backtracking)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200" dirty="0">
                <a:latin typeface="+mj-lt"/>
                <a:cs typeface="Times New Roman" panose="02020603050405020304" pitchFamily="18" charset="0"/>
              </a:rPr>
              <a:t>Therefore, this model is only appropriate when the requirements are well-understood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03E40-ADDA-0C78-EA84-D404D5D51F3A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731836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 -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5745" y="1941341"/>
            <a:ext cx="6206096" cy="4389121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The V-model is an SDLC model in which process execution happens sequentially in a V-shape. It is also known as a </a:t>
            </a:r>
            <a:r>
              <a:rPr lang="en-US" sz="2000" dirty="0">
                <a:solidFill>
                  <a:srgbClr val="C00000"/>
                </a:solidFill>
                <a:latin typeface="+mj-lt"/>
              </a:rPr>
              <a:t>Verification and Validation </a:t>
            </a:r>
            <a:r>
              <a:rPr lang="en-US" sz="2000" dirty="0">
                <a:latin typeface="+mj-lt"/>
              </a:rPr>
              <a:t>model.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V-Model is an extension of the waterfall model and is based on an association of a </a:t>
            </a:r>
            <a:r>
              <a:rPr lang="en-US" sz="2000" dirty="0">
                <a:solidFill>
                  <a:srgbClr val="C00000"/>
                </a:solidFill>
                <a:latin typeface="+mj-lt"/>
              </a:rPr>
              <a:t>testing phase </a:t>
            </a:r>
            <a:r>
              <a:rPr lang="en-US" sz="2000" dirty="0">
                <a:latin typeface="+mj-lt"/>
              </a:rPr>
              <a:t>for each corresponding development stage. This means that every single phase in the development cycle has a directly associated testing phase.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This is a highly disciplined model, and the next phase starts only after the completion of the previous phase.</a:t>
            </a:r>
            <a:endParaRPr lang="en-GB" sz="2000" dirty="0"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7040011" y="2330539"/>
            <a:ext cx="4726166" cy="3637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B2F2794-2A4A-41F1-381E-0501570FF32B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3925133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Prototyping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9567" y="1887565"/>
            <a:ext cx="6492109" cy="4712018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GB" sz="2200" dirty="0">
                <a:latin typeface="+mj-lt"/>
              </a:rPr>
              <a:t>Requirements are not precise, and the p</a:t>
            </a:r>
            <a:r>
              <a:rPr lang="en-GB" sz="2200" dirty="0"/>
              <a:t>rototype serves as a mechanism for identifying software requirements</a:t>
            </a:r>
            <a:endParaRPr lang="en-GB" sz="2200" dirty="0">
              <a:latin typeface="+mj-lt"/>
            </a:endParaRPr>
          </a:p>
          <a:p>
            <a:pPr>
              <a:buFont typeface="Wingdings" pitchFamily="2" charset="2"/>
              <a:buChar char="q"/>
            </a:pPr>
            <a:r>
              <a:rPr lang="en-GB" sz="2200" dirty="0">
                <a:latin typeface="+mj-lt"/>
              </a:rPr>
              <a:t>Iteration occurs as the prototype is tuned to satisfy the needs of the customer</a:t>
            </a:r>
          </a:p>
          <a:p>
            <a:pPr>
              <a:buFont typeface="Wingdings" pitchFamily="2" charset="2"/>
              <a:buChar char="q"/>
            </a:pPr>
            <a:r>
              <a:rPr lang="en-GB" sz="2200" dirty="0"/>
              <a:t>System requirements ALWAYS evolve during a project, so process iteration is proper where earlier stages are reworked and is always part of the process for large systems</a:t>
            </a:r>
            <a:endParaRPr lang="en-GB" sz="2200" dirty="0"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261676" y="1887565"/>
            <a:ext cx="4254944" cy="36647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5CDD077-DB25-5B43-C3F8-958B39DDA0A0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2769073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58955"/>
            <a:ext cx="11029616" cy="1013800"/>
          </a:xfrm>
        </p:spPr>
        <p:txBody>
          <a:bodyPr>
            <a:normAutofit/>
          </a:bodyPr>
          <a:lstStyle/>
          <a:p>
            <a:r>
              <a:rPr lang="en-GB" dirty="0"/>
              <a:t>Incremental development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555" y="1920241"/>
            <a:ext cx="11109622" cy="2129244"/>
          </a:xfrm>
        </p:spPr>
        <p:txBody>
          <a:bodyPr>
            <a:normAutofit fontScale="92500"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GB" sz="2000" dirty="0">
                <a:latin typeface="+mj-lt"/>
              </a:rPr>
              <a:t>Rather than </a:t>
            </a:r>
            <a:r>
              <a:rPr lang="en-US" sz="2000" dirty="0">
                <a:latin typeface="+mj-lt"/>
              </a:rPr>
              <a:t>delivering the system as a single delivery, development and </a:t>
            </a:r>
            <a:r>
              <a:rPr lang="en-US" sz="2000" dirty="0">
                <a:solidFill>
                  <a:srgbClr val="C00000"/>
                </a:solidFill>
                <a:latin typeface="+mj-lt"/>
              </a:rPr>
              <a:t>delivery are broken down into increments,</a:t>
            </a:r>
            <a:r>
              <a:rPr lang="en-GB" sz="2000" dirty="0">
                <a:latin typeface="+mj-lt"/>
              </a:rPr>
              <a:t> with each increment delivering part of the required functionality (SPIRAL). 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GB" sz="2000" dirty="0">
                <a:latin typeface="+mj-lt"/>
              </a:rPr>
              <a:t>T</a:t>
            </a:r>
            <a:r>
              <a:rPr lang="en-US" sz="2000" dirty="0"/>
              <a:t>he requirements are relatively certain but there are many complexities that leads to frequent changes.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GB" sz="2000" dirty="0">
                <a:latin typeface="+mj-lt"/>
              </a:rPr>
              <a:t>User requirements are prioritized, and the </a:t>
            </a:r>
            <a:r>
              <a:rPr lang="en-GB" sz="2000" dirty="0">
                <a:solidFill>
                  <a:srgbClr val="C00000"/>
                </a:solidFill>
                <a:latin typeface="+mj-lt"/>
              </a:rPr>
              <a:t>highest priority requirements</a:t>
            </a:r>
            <a:r>
              <a:rPr lang="en-GB" sz="2000" dirty="0">
                <a:latin typeface="+mj-lt"/>
              </a:rPr>
              <a:t> are included in early increments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GB" sz="2000" dirty="0">
                <a:latin typeface="+mj-lt"/>
              </a:rPr>
              <a:t>Once the development of an increment is started, the </a:t>
            </a:r>
            <a:r>
              <a:rPr lang="en-GB" sz="2000" dirty="0">
                <a:solidFill>
                  <a:srgbClr val="C00000"/>
                </a:solidFill>
                <a:latin typeface="+mj-lt"/>
              </a:rPr>
              <a:t>requirements are frozen</a:t>
            </a:r>
            <a:r>
              <a:rPr lang="en-GB" sz="2000" dirty="0">
                <a:latin typeface="+mj-lt"/>
              </a:rPr>
              <a:t> though requirements for later increments can continue to evolve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38589" cy="100161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7" name="Group 12"/>
          <p:cNvGrpSpPr>
            <a:grpSpLocks/>
          </p:cNvGrpSpPr>
          <p:nvPr/>
        </p:nvGrpSpPr>
        <p:grpSpPr bwMode="auto">
          <a:xfrm>
            <a:off x="3801291" y="4271554"/>
            <a:ext cx="6489700" cy="570410"/>
            <a:chOff x="960" y="1248"/>
            <a:chExt cx="4088" cy="432"/>
          </a:xfrm>
        </p:grpSpPr>
        <p:sp>
          <p:nvSpPr>
            <p:cNvPr id="8" name="Rectangle 3"/>
            <p:cNvSpPr>
              <a:spLocks noChangeArrowheads="1"/>
            </p:cNvSpPr>
            <p:nvPr/>
          </p:nvSpPr>
          <p:spPr bwMode="auto">
            <a:xfrm>
              <a:off x="9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Analysis</a:t>
              </a:r>
            </a:p>
          </p:txBody>
        </p:sp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1728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itchFamily="34" charset="0"/>
                </a:rPr>
                <a:t>Design</a:t>
              </a:r>
            </a:p>
          </p:txBody>
        </p:sp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2544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Code</a:t>
              </a:r>
            </a:p>
          </p:txBody>
        </p:sp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33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itchFamily="34" charset="0"/>
                </a:rPr>
                <a:t>Test</a:t>
              </a:r>
            </a:p>
          </p:txBody>
        </p:sp>
        <p:sp>
          <p:nvSpPr>
            <p:cNvPr id="12" name="Text Box 8"/>
            <p:cNvSpPr txBox="1">
              <a:spLocks noChangeArrowheads="1"/>
            </p:cNvSpPr>
            <p:nvPr/>
          </p:nvSpPr>
          <p:spPr bwMode="auto">
            <a:xfrm>
              <a:off x="4176" y="1248"/>
              <a:ext cx="872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>
                  <a:latin typeface="Calibri" pitchFamily="34" charset="0"/>
                </a:rPr>
                <a:t>Delivery</a:t>
              </a:r>
            </a:p>
            <a:p>
              <a:r>
                <a:rPr lang="en-GB">
                  <a:latin typeface="Calibri" pitchFamily="34" charset="0"/>
                </a:rPr>
                <a:t>increment #1</a:t>
              </a:r>
            </a:p>
          </p:txBody>
        </p:sp>
      </p:grpSp>
      <p:sp>
        <p:nvSpPr>
          <p:cNvPr id="13" name="Line 9"/>
          <p:cNvSpPr>
            <a:spLocks noChangeShapeType="1"/>
          </p:cNvSpPr>
          <p:nvPr/>
        </p:nvSpPr>
        <p:spPr bwMode="auto">
          <a:xfrm flipH="1">
            <a:off x="3572690" y="4284616"/>
            <a:ext cx="45719" cy="225747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Line 10"/>
          <p:cNvSpPr>
            <a:spLocks noChangeShapeType="1"/>
          </p:cNvSpPr>
          <p:nvPr/>
        </p:nvSpPr>
        <p:spPr bwMode="auto">
          <a:xfrm>
            <a:off x="3572691" y="6553200"/>
            <a:ext cx="762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6909616" y="6553200"/>
            <a:ext cx="11874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>
                <a:latin typeface="Calibri" pitchFamily="34" charset="0"/>
              </a:rPr>
              <a:t>Calendar time</a:t>
            </a:r>
          </a:p>
        </p:txBody>
      </p:sp>
      <p:grpSp>
        <p:nvGrpSpPr>
          <p:cNvPr id="16" name="Group 13"/>
          <p:cNvGrpSpPr>
            <a:grpSpLocks/>
          </p:cNvGrpSpPr>
          <p:nvPr/>
        </p:nvGrpSpPr>
        <p:grpSpPr bwMode="auto">
          <a:xfrm>
            <a:off x="4638261" y="4976949"/>
            <a:ext cx="6808793" cy="677091"/>
            <a:chOff x="960" y="1248"/>
            <a:chExt cx="4088" cy="432"/>
          </a:xfrm>
        </p:grpSpPr>
        <p:sp>
          <p:nvSpPr>
            <p:cNvPr id="17" name="Rectangle 14"/>
            <p:cNvSpPr>
              <a:spLocks noChangeArrowheads="1"/>
            </p:cNvSpPr>
            <p:nvPr/>
          </p:nvSpPr>
          <p:spPr bwMode="auto">
            <a:xfrm>
              <a:off x="9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Analysis</a:t>
              </a:r>
            </a:p>
          </p:txBody>
        </p:sp>
        <p:sp>
          <p:nvSpPr>
            <p:cNvPr id="18" name="Rectangle 15"/>
            <p:cNvSpPr>
              <a:spLocks noChangeArrowheads="1"/>
            </p:cNvSpPr>
            <p:nvPr/>
          </p:nvSpPr>
          <p:spPr bwMode="auto">
            <a:xfrm>
              <a:off x="1728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Design</a:t>
              </a:r>
            </a:p>
          </p:txBody>
        </p:sp>
        <p:sp>
          <p:nvSpPr>
            <p:cNvPr id="19" name="Rectangle 16"/>
            <p:cNvSpPr>
              <a:spLocks noChangeArrowheads="1"/>
            </p:cNvSpPr>
            <p:nvPr/>
          </p:nvSpPr>
          <p:spPr bwMode="auto">
            <a:xfrm>
              <a:off x="2544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itchFamily="34" charset="0"/>
                </a:rPr>
                <a:t>Code</a:t>
              </a:r>
            </a:p>
          </p:txBody>
        </p:sp>
        <p:sp>
          <p:nvSpPr>
            <p:cNvPr id="20" name="Rectangle 17"/>
            <p:cNvSpPr>
              <a:spLocks noChangeArrowheads="1"/>
            </p:cNvSpPr>
            <p:nvPr/>
          </p:nvSpPr>
          <p:spPr bwMode="auto">
            <a:xfrm>
              <a:off x="33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Test</a:t>
              </a:r>
            </a:p>
          </p:txBody>
        </p:sp>
        <p:sp>
          <p:nvSpPr>
            <p:cNvPr id="21" name="Text Box 18"/>
            <p:cNvSpPr txBox="1">
              <a:spLocks noChangeArrowheads="1"/>
            </p:cNvSpPr>
            <p:nvPr/>
          </p:nvSpPr>
          <p:spPr bwMode="auto">
            <a:xfrm>
              <a:off x="4176" y="1248"/>
              <a:ext cx="872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>
                  <a:latin typeface="Calibri" pitchFamily="34" charset="0"/>
                </a:rPr>
                <a:t>Delivery</a:t>
              </a:r>
            </a:p>
            <a:p>
              <a:r>
                <a:rPr lang="en-GB">
                  <a:latin typeface="Calibri" pitchFamily="34" charset="0"/>
                </a:rPr>
                <a:t>increment #2</a:t>
              </a:r>
            </a:p>
          </p:txBody>
        </p:sp>
      </p:grpSp>
      <p:grpSp>
        <p:nvGrpSpPr>
          <p:cNvPr id="22" name="Group 19"/>
          <p:cNvGrpSpPr>
            <a:grpSpLocks/>
          </p:cNvGrpSpPr>
          <p:nvPr/>
        </p:nvGrpSpPr>
        <p:grpSpPr bwMode="auto">
          <a:xfrm>
            <a:off x="5406887" y="5865222"/>
            <a:ext cx="6552652" cy="535577"/>
            <a:chOff x="960" y="1248"/>
            <a:chExt cx="3931" cy="432"/>
          </a:xfrm>
        </p:grpSpPr>
        <p:sp>
          <p:nvSpPr>
            <p:cNvPr id="23" name="Rectangle 20"/>
            <p:cNvSpPr>
              <a:spLocks noChangeArrowheads="1"/>
            </p:cNvSpPr>
            <p:nvPr/>
          </p:nvSpPr>
          <p:spPr bwMode="auto">
            <a:xfrm>
              <a:off x="9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itchFamily="34" charset="0"/>
                </a:rPr>
                <a:t>Analysis</a:t>
              </a:r>
            </a:p>
          </p:txBody>
        </p:sp>
        <p:sp>
          <p:nvSpPr>
            <p:cNvPr id="24" name="Rectangle 21"/>
            <p:cNvSpPr>
              <a:spLocks noChangeArrowheads="1"/>
            </p:cNvSpPr>
            <p:nvPr/>
          </p:nvSpPr>
          <p:spPr bwMode="auto">
            <a:xfrm>
              <a:off x="1728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Design</a:t>
              </a:r>
            </a:p>
          </p:txBody>
        </p:sp>
        <p:sp>
          <p:nvSpPr>
            <p:cNvPr id="25" name="Rectangle 22"/>
            <p:cNvSpPr>
              <a:spLocks noChangeArrowheads="1"/>
            </p:cNvSpPr>
            <p:nvPr/>
          </p:nvSpPr>
          <p:spPr bwMode="auto">
            <a:xfrm>
              <a:off x="2544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itchFamily="34" charset="0"/>
                </a:rPr>
                <a:t>Code</a:t>
              </a:r>
            </a:p>
          </p:txBody>
        </p:sp>
        <p:sp>
          <p:nvSpPr>
            <p:cNvPr id="26" name="Rectangle 23"/>
            <p:cNvSpPr>
              <a:spLocks noChangeArrowheads="1"/>
            </p:cNvSpPr>
            <p:nvPr/>
          </p:nvSpPr>
          <p:spPr bwMode="auto">
            <a:xfrm>
              <a:off x="33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itchFamily="34" charset="0"/>
                </a:rPr>
                <a:t>Test</a:t>
              </a:r>
            </a:p>
          </p:txBody>
        </p:sp>
        <p:sp>
          <p:nvSpPr>
            <p:cNvPr id="27" name="Text Box 24"/>
            <p:cNvSpPr txBox="1">
              <a:spLocks noChangeArrowheads="1"/>
            </p:cNvSpPr>
            <p:nvPr/>
          </p:nvSpPr>
          <p:spPr bwMode="auto">
            <a:xfrm>
              <a:off x="4108" y="1248"/>
              <a:ext cx="783" cy="2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GB" dirty="0">
                  <a:latin typeface="Calibri" pitchFamily="34" charset="0"/>
                </a:rPr>
                <a:t>Delivery #3</a:t>
              </a:r>
            </a:p>
          </p:txBody>
        </p:sp>
      </p:grp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9C10A0D-78A2-BF7F-A7E4-9820261191BA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1567044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Rapid Application Development (RAD)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947" y="2024743"/>
            <a:ext cx="10652865" cy="4349931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/>
              <a:t>It is a type of incremental model. The developments are time-boxed, delivered, and then assembled into a working  prototype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/>
              <a:t>In the RAD model, the components or functions are </a:t>
            </a:r>
            <a:r>
              <a:rPr lang="en-US" sz="2000" dirty="0">
                <a:solidFill>
                  <a:srgbClr val="C00000"/>
                </a:solidFill>
              </a:rPr>
              <a:t>developed in parallel </a:t>
            </a:r>
            <a:r>
              <a:rPr lang="en-US" sz="2000" dirty="0"/>
              <a:t>as if they were mini projects (frozen requirements in each increment)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/>
              <a:t> This can quickly give the customer something to see and use and to provide feedback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 dirty="0"/>
              <a:t>Delivers a fully functional system in </a:t>
            </a:r>
            <a:r>
              <a:rPr lang="en-GB" altLang="en-US" sz="2000" dirty="0">
                <a:solidFill>
                  <a:srgbClr val="C00000"/>
                </a:solidFill>
              </a:rPr>
              <a:t>90 days.</a:t>
            </a:r>
            <a:endParaRPr lang="en-US" sz="2000" dirty="0"/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GB" altLang="en-US" sz="2000" dirty="0"/>
              <a:t>Phases of RAD are: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GB" altLang="en-US" sz="2000" dirty="0">
                <a:solidFill>
                  <a:srgbClr val="0070C0"/>
                </a:solidFill>
              </a:rPr>
              <a:t>Requirements Planning 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GB" altLang="en-US" sz="2000" dirty="0">
                <a:solidFill>
                  <a:srgbClr val="0070C0"/>
                </a:solidFill>
              </a:rPr>
              <a:t>User Design </a:t>
            </a:r>
            <a:r>
              <a:rPr lang="en-GB" altLang="en-US" sz="2000" dirty="0"/>
              <a:t>(user interacts with the system analysts)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GB" altLang="en-US" sz="2000" dirty="0">
                <a:solidFill>
                  <a:srgbClr val="0070C0"/>
                </a:solidFill>
              </a:rPr>
              <a:t>Construction</a:t>
            </a:r>
            <a:r>
              <a:rPr lang="en-GB" altLang="en-US" sz="2000" dirty="0">
                <a:solidFill>
                  <a:srgbClr val="FF0000"/>
                </a:solidFill>
              </a:rPr>
              <a:t> </a:t>
            </a:r>
            <a:r>
              <a:rPr lang="en-GB" altLang="en-US" sz="2000" dirty="0"/>
              <a:t> (program and application development)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GB" altLang="en-US" sz="2000" dirty="0">
                <a:solidFill>
                  <a:srgbClr val="0070C0"/>
                </a:solidFill>
              </a:rPr>
              <a:t>Cutover</a:t>
            </a:r>
            <a:r>
              <a:rPr lang="en-GB" altLang="en-US" sz="2000" dirty="0">
                <a:solidFill>
                  <a:srgbClr val="FF0000"/>
                </a:solidFill>
              </a:rPr>
              <a:t> </a:t>
            </a:r>
            <a:r>
              <a:rPr lang="en-GB" altLang="en-US" sz="2000" dirty="0"/>
              <a:t>(testing, changeover to new system, user training)</a:t>
            </a:r>
            <a:endParaRPr lang="en-US" sz="2200" b="1" dirty="0"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64714" cy="1053864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D6D9ECC-68FF-8D7D-811B-14DD60441EAC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1373323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Rational Unified Process (RUP)</a:t>
            </a:r>
            <a:endParaRPr lang="en-US" dirty="0">
              <a:latin typeface="Bell MT" pitchFamily="18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38589" cy="100161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137" y="1920239"/>
            <a:ext cx="11299372" cy="47156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49773-2BDA-ACC8-8895-B0E381214C7B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B9D32C4-CEE3-530C-67DB-28D5F1F86C16}"/>
                  </a:ext>
                </a:extLst>
              </p14:cNvPr>
              <p14:cNvContentPartPr/>
              <p14:nvPr/>
            </p14:nvContentPartPr>
            <p14:xfrm>
              <a:off x="469800" y="2698920"/>
              <a:ext cx="10693800" cy="17845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B9D32C4-CEE3-530C-67DB-28D5F1F86C1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0440" y="2689560"/>
                <a:ext cx="10712520" cy="1803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47168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Risk profile</a:t>
            </a:r>
            <a:endParaRPr lang="en-US" dirty="0">
              <a:latin typeface="Bell MT" pitchFamily="18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38589" cy="100161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39537" y="1854925"/>
            <a:ext cx="8279674" cy="47810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4E10F-2430-EE4F-3CEE-3FB90BB588DA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1561272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262563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 dirty="0">
                <a:ea typeface="ＭＳ Ｐゴシック" pitchFamily="34" charset="-128"/>
              </a:rPr>
              <a:t>R.S. Pressman &amp; Associates, Inc. (2010). </a:t>
            </a:r>
            <a:r>
              <a:rPr lang="en-US" sz="2000" i="1" dirty="0">
                <a:ea typeface="ＭＳ Ｐゴシック" pitchFamily="34" charset="-128"/>
              </a:rPr>
              <a:t>Software Engineering: A Practitioner’s Approach.</a:t>
            </a:r>
          </a:p>
          <a:p>
            <a:pPr>
              <a:defRPr/>
            </a:pPr>
            <a:r>
              <a:rPr lang="en-US" sz="2000" dirty="0"/>
              <a:t>Kelly, J. C., </a:t>
            </a:r>
            <a:r>
              <a:rPr lang="en-US" sz="2000" dirty="0" err="1"/>
              <a:t>Sherif</a:t>
            </a:r>
            <a:r>
              <a:rPr lang="en-US" sz="2000" dirty="0"/>
              <a:t>, J. S., &amp; Hops, J. (1992). An analysis of defect densities found during software inspections. </a:t>
            </a:r>
            <a:r>
              <a:rPr lang="en-US" sz="2000" i="1" dirty="0"/>
              <a:t>Journal of Systems and Software</a:t>
            </a:r>
            <a:r>
              <a:rPr lang="en-US" sz="2000" dirty="0"/>
              <a:t>, </a:t>
            </a:r>
            <a:r>
              <a:rPr lang="en-US" sz="2000" i="1" dirty="0"/>
              <a:t>17</a:t>
            </a:r>
            <a:r>
              <a:rPr lang="en-US" sz="2000" dirty="0"/>
              <a:t>(2), 111-117.</a:t>
            </a:r>
          </a:p>
          <a:p>
            <a:pPr>
              <a:defRPr/>
            </a:pPr>
            <a:r>
              <a:rPr lang="en-US" sz="2000" dirty="0"/>
              <a:t>Bhandari, I., Halliday, M. J., </a:t>
            </a:r>
            <a:r>
              <a:rPr lang="en-US" sz="2000" dirty="0" err="1"/>
              <a:t>Chaar</a:t>
            </a:r>
            <a:r>
              <a:rPr lang="en-US" sz="2000" dirty="0"/>
              <a:t>, J., </a:t>
            </a:r>
            <a:r>
              <a:rPr lang="en-US" sz="2000" dirty="0" err="1"/>
              <a:t>Chillarege</a:t>
            </a:r>
            <a:r>
              <a:rPr lang="en-US" sz="2000" dirty="0"/>
              <a:t>, R., Jones, K., Atkinson, J. S., &amp; </a:t>
            </a:r>
            <a:r>
              <a:rPr lang="en-US" sz="2000" dirty="0" err="1"/>
              <a:t>Yonezawa</a:t>
            </a:r>
            <a:r>
              <a:rPr lang="en-US" sz="2000" dirty="0"/>
              <a:t>, M. (1994).</a:t>
            </a:r>
            <a:br>
              <a:rPr lang="en-US" sz="2000" dirty="0"/>
            </a:br>
            <a:r>
              <a:rPr lang="en-US" sz="2000" dirty="0"/>
              <a:t>In-process improvement through defect data interpretation. </a:t>
            </a:r>
            <a:r>
              <a:rPr lang="en-US" sz="2000" i="1" dirty="0"/>
              <a:t>IBM Systems Journal</a:t>
            </a:r>
            <a:r>
              <a:rPr lang="en-US" sz="2000" dirty="0"/>
              <a:t>, </a:t>
            </a:r>
            <a:r>
              <a:rPr lang="en-US" sz="2000" i="1" dirty="0"/>
              <a:t>33</a:t>
            </a:r>
            <a:r>
              <a:rPr lang="en-US" sz="2000" dirty="0"/>
              <a:t>(1), 182-214.</a:t>
            </a:r>
            <a:endParaRPr lang="en-US" sz="2000" dirty="0">
              <a:ea typeface="ＭＳ Ｐゴシック" pitchFamily="34" charset="-128"/>
            </a:endParaRPr>
          </a:p>
          <a:p>
            <a:pPr>
              <a:defRPr/>
            </a:pPr>
            <a:endParaRPr lang="en-US" altLang="zh-TW" sz="20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- 10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5428DD3-CABA-9384-F30E-42C6A72F954F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6403923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C1B08CE58D0E4DB7DCF78F42E3FEBF" ma:contentTypeVersion="10" ma:contentTypeDescription="Create a new document." ma:contentTypeScope="" ma:versionID="c823fa5abc6434c529534b20fb383532">
  <xsd:schema xmlns:xsd="http://www.w3.org/2001/XMLSchema" xmlns:xs="http://www.w3.org/2001/XMLSchema" xmlns:p="http://schemas.microsoft.com/office/2006/metadata/properties" xmlns:ns2="76186025-a0d9-4e7f-b068-4d7f27a934af" xmlns:ns3="3aad5d91-f2db-4a1b-9283-0f202a4efe7d" targetNamespace="http://schemas.microsoft.com/office/2006/metadata/properties" ma:root="true" ma:fieldsID="f47a5c4433644f8114d4269f7d216095" ns2:_="" ns3:_="">
    <xsd:import namespace="76186025-a0d9-4e7f-b068-4d7f27a934af"/>
    <xsd:import namespace="3aad5d91-f2db-4a1b-9283-0f202a4efe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186025-a0d9-4e7f-b068-4d7f27a934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c387e96-56ce-4293-9bf0-c5d3fd96f7a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ad5d91-f2db-4a1b-9283-0f202a4efe7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1285068-04dd-4274-b59d-5166468f7e91}" ma:internalName="TaxCatchAll" ma:showField="CatchAllData" ma:web="3aad5d91-f2db-4a1b-9283-0f202a4efe7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aad5d91-f2db-4a1b-9283-0f202a4efe7d" xsi:nil="true"/>
    <lcf76f155ced4ddcb4097134ff3c332f xmlns="76186025-a0d9-4e7f-b068-4d7f27a934af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D324E9A-1768-47ED-99D1-D5D3C295C2F8}"/>
</file>

<file path=customXml/itemProps2.xml><?xml version="1.0" encoding="utf-8"?>
<ds:datastoreItem xmlns:ds="http://schemas.openxmlformats.org/officeDocument/2006/customXml" ds:itemID="{79274369-104A-451F-B825-F1E708F7F870}"/>
</file>

<file path=customXml/itemProps3.xml><?xml version="1.0" encoding="utf-8"?>
<ds:datastoreItem xmlns:ds="http://schemas.openxmlformats.org/officeDocument/2006/customXml" ds:itemID="{16E1BB8E-BE5B-4E0F-BF28-66FE2278F813}"/>
</file>

<file path=docProps/app.xml><?xml version="1.0" encoding="utf-8"?>
<Properties xmlns="http://schemas.openxmlformats.org/officeDocument/2006/extended-properties" xmlns:vt="http://schemas.openxmlformats.org/officeDocument/2006/docPropsVTypes">
  <TotalTime>555</TotalTime>
  <Words>688</Words>
  <Application>Microsoft Office PowerPoint</Application>
  <PresentationFormat>Widescreen</PresentationFormat>
  <Paragraphs>90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ＭＳ Ｐゴシック</vt:lpstr>
      <vt:lpstr>Bell MT</vt:lpstr>
      <vt:lpstr>Calibri</vt:lpstr>
      <vt:lpstr>Gill Sans MT</vt:lpstr>
      <vt:lpstr>Wingdings</vt:lpstr>
      <vt:lpstr>Wingdings 2</vt:lpstr>
      <vt:lpstr>Dividend</vt:lpstr>
      <vt:lpstr>PowerPoint Presentation</vt:lpstr>
      <vt:lpstr>Software process</vt:lpstr>
      <vt:lpstr>Waterfall model</vt:lpstr>
      <vt:lpstr>V - model</vt:lpstr>
      <vt:lpstr>Prototyping model</vt:lpstr>
      <vt:lpstr>Incremental development</vt:lpstr>
      <vt:lpstr>Rapid Application Development (RAD)</vt:lpstr>
      <vt:lpstr>Rational Unified Process (RUP)</vt:lpstr>
      <vt:lpstr>Risk profile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Ch.02 - Software Developmnet Process Model</dc:title>
  <dc:subject>Software Engineering</dc:subject>
  <dc:creator>M. Mahmudul Hasan</dc:creator>
  <cp:lastModifiedBy>Jubayer Ahamed</cp:lastModifiedBy>
  <cp:revision>27</cp:revision>
  <dcterms:created xsi:type="dcterms:W3CDTF">2019-05-13T08:37:20Z</dcterms:created>
  <dcterms:modified xsi:type="dcterms:W3CDTF">2026-02-09T13:17:35Z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0x010100D7C1B08CE58D0E4DB7DCF78F42E3FEBF</vt:lpwstr>
  </property>
</Properties>
</file>