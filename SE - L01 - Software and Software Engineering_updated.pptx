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6"/>
  </p:notesMasterIdLst>
  <p:sldIdLst>
    <p:sldId id="256" r:id="rId2"/>
    <p:sldId id="313" r:id="rId3"/>
    <p:sldId id="293" r:id="rId4"/>
    <p:sldId id="295" r:id="rId5"/>
    <p:sldId id="297" r:id="rId6"/>
    <p:sldId id="314" r:id="rId7"/>
    <p:sldId id="299" r:id="rId8"/>
    <p:sldId id="298" r:id="rId9"/>
    <p:sldId id="307" r:id="rId10"/>
    <p:sldId id="308" r:id="rId11"/>
    <p:sldId id="309" r:id="rId12"/>
    <p:sldId id="310" r:id="rId13"/>
    <p:sldId id="312" r:id="rId14"/>
    <p:sldId id="31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6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7AF214CD-E0DE-48B8-8F33-85F80140BCFB}"/>
    <pc:docChg chg="modSld sldOrd">
      <pc:chgData name="Saikat Baul" userId="dae859d7-ea3e-4a5d-83a1-d953f3940120" providerId="ADAL" clId="{7AF214CD-E0DE-48B8-8F33-85F80140BCFB}" dt="2025-03-15T14:35:10.931" v="1"/>
      <pc:docMkLst>
        <pc:docMk/>
      </pc:docMkLst>
      <pc:sldChg chg="ord">
        <pc:chgData name="Saikat Baul" userId="dae859d7-ea3e-4a5d-83a1-d953f3940120" providerId="ADAL" clId="{7AF214CD-E0DE-48B8-8F33-85F80140BCFB}" dt="2025-03-15T14:35:10.931" v="1"/>
        <pc:sldMkLst>
          <pc:docMk/>
          <pc:sldMk cId="3411684674" sldId="310"/>
        </pc:sldMkLst>
      </pc:sldChg>
    </pc:docChg>
  </pc:docChgLst>
  <pc:docChgLst>
    <pc:chgData name="Saikat Baul" userId="dae859d7-ea3e-4a5d-83a1-d953f3940120" providerId="ADAL" clId="{C6A6FCEC-4417-450F-BCDE-5CA5509732F0}"/>
    <pc:docChg chg="undo redo custSel modSld">
      <pc:chgData name="Saikat Baul" userId="dae859d7-ea3e-4a5d-83a1-d953f3940120" providerId="ADAL" clId="{C6A6FCEC-4417-450F-BCDE-5CA5509732F0}" dt="2025-03-03T14:04:58.450" v="149"/>
      <pc:docMkLst>
        <pc:docMk/>
      </pc:docMkLst>
      <pc:sldChg chg="modSp mod">
        <pc:chgData name="Saikat Baul" userId="dae859d7-ea3e-4a5d-83a1-d953f3940120" providerId="ADAL" clId="{C6A6FCEC-4417-450F-BCDE-5CA5509732F0}" dt="2025-03-01T08:35:44.127" v="22" actId="120"/>
        <pc:sldMkLst>
          <pc:docMk/>
          <pc:sldMk cId="2664565021" sldId="256"/>
        </pc:sldMkLst>
        <pc:spChg chg="mod">
          <ac:chgData name="Saikat Baul" userId="dae859d7-ea3e-4a5d-83a1-d953f3940120" providerId="ADAL" clId="{C6A6FCEC-4417-450F-BCDE-5CA5509732F0}" dt="2025-03-01T08:35:44.127" v="22" actId="120"/>
          <ac:spMkLst>
            <pc:docMk/>
            <pc:sldMk cId="2664565021" sldId="256"/>
            <ac:spMk id="24" creationId="{C2082529-78D7-4EA7-BFF9-A1D1F62040C8}"/>
          </ac:spMkLst>
        </pc:spChg>
      </pc:sldChg>
      <pc:sldChg chg="delSp mod">
        <pc:chgData name="Saikat Baul" userId="dae859d7-ea3e-4a5d-83a1-d953f3940120" providerId="ADAL" clId="{C6A6FCEC-4417-450F-BCDE-5CA5509732F0}" dt="2025-03-02T07:29:06.968" v="24" actId="478"/>
        <pc:sldMkLst>
          <pc:docMk/>
          <pc:sldMk cId="3411684674" sldId="298"/>
        </pc:sldMkLst>
      </pc:sldChg>
      <pc:sldChg chg="delSp mod">
        <pc:chgData name="Saikat Baul" userId="dae859d7-ea3e-4a5d-83a1-d953f3940120" providerId="ADAL" clId="{C6A6FCEC-4417-450F-BCDE-5CA5509732F0}" dt="2025-03-02T07:28:42.103" v="23" actId="478"/>
        <pc:sldMkLst>
          <pc:docMk/>
          <pc:sldMk cId="3411684674" sldId="301"/>
        </pc:sldMkLst>
      </pc:sldChg>
      <pc:sldChg chg="delSp mod">
        <pc:chgData name="Saikat Baul" userId="dae859d7-ea3e-4a5d-83a1-d953f3940120" providerId="ADAL" clId="{C6A6FCEC-4417-450F-BCDE-5CA5509732F0}" dt="2025-03-02T07:29:12.017" v="25" actId="478"/>
        <pc:sldMkLst>
          <pc:docMk/>
          <pc:sldMk cId="3411684674" sldId="302"/>
        </pc:sldMkLst>
      </pc:sldChg>
      <pc:sldChg chg="delSp mod">
        <pc:chgData name="Saikat Baul" userId="dae859d7-ea3e-4a5d-83a1-d953f3940120" providerId="ADAL" clId="{C6A6FCEC-4417-450F-BCDE-5CA5509732F0}" dt="2025-03-02T07:29:16.114" v="26" actId="478"/>
        <pc:sldMkLst>
          <pc:docMk/>
          <pc:sldMk cId="3411684674" sldId="303"/>
        </pc:sldMkLst>
      </pc:sldChg>
      <pc:sldChg chg="delSp mod">
        <pc:chgData name="Saikat Baul" userId="dae859d7-ea3e-4a5d-83a1-d953f3940120" providerId="ADAL" clId="{C6A6FCEC-4417-450F-BCDE-5CA5509732F0}" dt="2025-03-02T07:29:20.617" v="27" actId="478"/>
        <pc:sldMkLst>
          <pc:docMk/>
          <pc:sldMk cId="3411684674" sldId="305"/>
        </pc:sldMkLst>
      </pc:sldChg>
      <pc:sldChg chg="modSp mod">
        <pc:chgData name="Saikat Baul" userId="dae859d7-ea3e-4a5d-83a1-d953f3940120" providerId="ADAL" clId="{C6A6FCEC-4417-450F-BCDE-5CA5509732F0}" dt="2025-03-03T13:51:46.327" v="97" actId="20577"/>
        <pc:sldMkLst>
          <pc:docMk/>
          <pc:sldMk cId="3411684674" sldId="306"/>
        </pc:sldMkLst>
        <pc:spChg chg="mod">
          <ac:chgData name="Saikat Baul" userId="dae859d7-ea3e-4a5d-83a1-d953f3940120" providerId="ADAL" clId="{C6A6FCEC-4417-450F-BCDE-5CA5509732F0}" dt="2025-03-03T13:51:46.327" v="97" actId="20577"/>
          <ac:spMkLst>
            <pc:docMk/>
            <pc:sldMk cId="3411684674" sldId="306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3:59:08.010" v="135" actId="20577"/>
        <pc:sldMkLst>
          <pc:docMk/>
          <pc:sldMk cId="3411684674" sldId="307"/>
        </pc:sldMkLst>
        <pc:spChg chg="mod">
          <ac:chgData name="Saikat Baul" userId="dae859d7-ea3e-4a5d-83a1-d953f3940120" providerId="ADAL" clId="{C6A6FCEC-4417-450F-BCDE-5CA5509732F0}" dt="2025-03-03T13:59:08.010" v="135" actId="20577"/>
          <ac:spMkLst>
            <pc:docMk/>
            <pc:sldMk cId="3411684674" sldId="307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0:11.833" v="137" actId="20577"/>
        <pc:sldMkLst>
          <pc:docMk/>
          <pc:sldMk cId="3411684674" sldId="308"/>
        </pc:sldMkLst>
        <pc:spChg chg="mod">
          <ac:chgData name="Saikat Baul" userId="dae859d7-ea3e-4a5d-83a1-d953f3940120" providerId="ADAL" clId="{C6A6FCEC-4417-450F-BCDE-5CA5509732F0}" dt="2025-03-03T14:00:11.833" v="137" actId="20577"/>
          <ac:spMkLst>
            <pc:docMk/>
            <pc:sldMk cId="3411684674" sldId="308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4:58.450" v="149"/>
        <pc:sldMkLst>
          <pc:docMk/>
          <pc:sldMk cId="3411684674" sldId="310"/>
        </pc:sldMkLst>
        <pc:spChg chg="mod">
          <ac:chgData name="Saikat Baul" userId="dae859d7-ea3e-4a5d-83a1-d953f3940120" providerId="ADAL" clId="{C6A6FCEC-4417-450F-BCDE-5CA5509732F0}" dt="2025-03-03T14:02:44.495" v="148" actId="313"/>
          <ac:spMkLst>
            <pc:docMk/>
            <pc:sldMk cId="3411684674" sldId="310"/>
            <ac:spMk id="2" creationId="{00000000-0000-0000-0000-000000000000}"/>
          </ac:spMkLst>
        </pc:spChg>
        <pc:spChg chg="mod">
          <ac:chgData name="Saikat Baul" userId="dae859d7-ea3e-4a5d-83a1-d953f3940120" providerId="ADAL" clId="{C6A6FCEC-4417-450F-BCDE-5CA5509732F0}" dt="2025-03-03T14:04:58.450" v="149"/>
          <ac:spMkLst>
            <pc:docMk/>
            <pc:sldMk cId="3411684674" sldId="31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23E7-B30D-2BFF-95D0-3721675F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119FA-F709-49A8-A58E-F227B09E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ED91D-882A-8595-E3DC-70CF9729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044CF-4768-6FA5-EB94-97DB7CC1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80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795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321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cholar.google.com/citations?view_op=list_works&amp;hl=en&amp;hl=en&amp;user=WXtW1XMAAAAJ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&amp; software engineering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9170807" y="3599399"/>
            <a:ext cx="2860326" cy="164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Jubayer </a:t>
            </a:r>
            <a:r>
              <a:rPr lang="en-US" sz="2400" dirty="0" err="1">
                <a:solidFill>
                  <a:srgbClr val="7030A0"/>
                </a:solidFill>
              </a:rPr>
              <a:t>ahamed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000" cap="none" dirty="0">
                <a:solidFill>
                  <a:schemeClr val="tx1"/>
                </a:solidFill>
                <a:hlinkClick r:id="rId3"/>
              </a:rPr>
              <a:t>jubayer@aiub.edu</a:t>
            </a:r>
            <a:r>
              <a:rPr lang="en-US" sz="2000" cap="none" dirty="0">
                <a:solidFill>
                  <a:schemeClr val="tx1"/>
                </a:solidFill>
              </a:rPr>
              <a:t> </a:t>
            </a:r>
            <a:endParaRPr lang="en-US" sz="23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2" descr="Google Scholar Logo PNG Vector (AI, PDF ...">
            <a:extLst>
              <a:ext uri="{FF2B5EF4-FFF2-40B4-BE49-F238E27FC236}">
                <a16:creationId xmlns:a16="http://schemas.microsoft.com/office/drawing/2014/main" id="{344270E6-900A-ECC5-70F8-9779BC90F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854" y="467859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77D435-A5B1-F296-B90B-4CE6D7D1AC8D}"/>
              </a:ext>
            </a:extLst>
          </p:cNvPr>
          <p:cNvSpPr txBox="1"/>
          <p:nvPr/>
        </p:nvSpPr>
        <p:spPr>
          <a:xfrm>
            <a:off x="6438364" y="5487699"/>
            <a:ext cx="5512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https://scholar.google.com/citations?view_op=list_works&amp;hl=en&amp;hl=en&amp;user=WXtW1XMAAAAJ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EEF3-BAF9-3363-7CAE-476D516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C0F2-2ED6-9CFB-DE25-415A2DAC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5F9D-97A7-3ABA-651D-45BB16B8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Technologies that make it easier, faster, and less expensive to build high-quality computer programs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A discipline aiming at producing fault-free software, delivered on time and within budget, that satisfies the users’ needs.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 </a:t>
            </a:r>
            <a:r>
              <a:rPr lang="en-US" altLang="zh-TW" sz="2200" dirty="0">
                <a:latin typeface="+mj-lt"/>
              </a:rPr>
              <a:t>A set of activities in software production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The philosophy of established engineering disciplines to solve what are termed software crisis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endParaRPr lang="en-US" altLang="zh-TW" sz="2200" dirty="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69B8F5-4CB5-7998-D2D4-ED83013D3973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1A590-4A62-E828-3EFD-C053B34D4D04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64104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57550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33A36-B0B5-9997-56BC-6D0BBA0D031E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cost concentrating in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continues to be custom-built (based on the requirements)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1616C-BB6C-0C2A-8ED0-3C10F599C6D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Planning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Development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Final release / Deployment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Maintenance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C0F1A-8886-94B9-3267-48CF1CC23CF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23D-EB03-790F-A064-D7DDBF9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Software development life cycle (SDLC)</a:t>
            </a:r>
            <a:endParaRPr lang="en-US" sz="3200" b="1" dirty="0"/>
          </a:p>
        </p:txBody>
      </p:sp>
      <p:pic>
        <p:nvPicPr>
          <p:cNvPr id="6" name="Content Placeholder 5" descr="A circular chart with text&#10;&#10;AI-generated content may be incorrect.">
            <a:extLst>
              <a:ext uri="{FF2B5EF4-FFF2-40B4-BE49-F238E27FC236}">
                <a16:creationId xmlns:a16="http://schemas.microsoft.com/office/drawing/2014/main" id="{0FBC46FD-FB6C-4C71-9FB7-1D8057520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288" y="1832817"/>
            <a:ext cx="4807424" cy="50251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1CA5-6A70-2EED-5DD8-4AE08FA8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A4ACF4-C431-6144-17A3-68B42B5E7210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</a:p>
        </p:txBody>
      </p:sp>
    </p:spTree>
    <p:extLst>
      <p:ext uri="{BB962C8B-B14F-4D97-AF65-F5344CB8AC3E}">
        <p14:creationId xmlns:p14="http://schemas.microsoft.com/office/powerpoint/2010/main" val="20460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3F4437-BB4E-D0B6-96B1-1E9871A28BF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809524" imgH="3734321" progId="">
                  <p:embed/>
                </p:oleObj>
              </mc:Choice>
              <mc:Fallback>
                <p:oleObj name="Photo Editor Photo" r:id="rId2" imgW="4809524" imgH="3734321" progId="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9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1A92BF-C439-B5DA-6DA8-60F0A561BFD3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 dirty="0">
                <a:latin typeface="+mj-lt"/>
              </a:rPr>
              <a:t>(control computer hardware such as OS)</a:t>
            </a:r>
          </a:p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 dirty="0">
                <a:latin typeface="+mj-lt"/>
              </a:rPr>
              <a:t> (commercial application for business users [SAP, ERP])</a:t>
            </a:r>
          </a:p>
          <a:p>
            <a:pPr lvl="8"/>
            <a:r>
              <a:rPr lang="en-US" altLang="zh-TW" sz="1600" dirty="0">
                <a:latin typeface="+mj-lt"/>
              </a:rPr>
              <a:t>Systems, Applications, and Products</a:t>
            </a:r>
          </a:p>
          <a:p>
            <a:pPr lvl="8"/>
            <a:r>
              <a:rPr lang="en-US" altLang="zh-TW" sz="1600" dirty="0">
                <a:latin typeface="+mj-lt"/>
              </a:rPr>
              <a:t>Enterprise Resource Planning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 dirty="0">
                <a:latin typeface="+mj-lt"/>
              </a:rPr>
              <a:t>(e.g. statistical analysis-SPSS, </a:t>
            </a:r>
            <a:r>
              <a:rPr lang="en-US" altLang="zh-TW" sz="2200" dirty="0" err="1">
                <a:latin typeface="+mj-lt"/>
              </a:rPr>
              <a:t>Matlab</a:t>
            </a:r>
            <a:r>
              <a:rPr lang="en-US" altLang="zh-TW" sz="2200" dirty="0">
                <a:latin typeface="+mj-lt"/>
              </a:rPr>
              <a:t>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 dirty="0">
                <a:latin typeface="+mj-lt"/>
              </a:rPr>
              <a:t>(e.g. biometric device)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 dirty="0">
                <a:latin typeface="+mj-lt"/>
              </a:rPr>
              <a:t>(e.g. Microsoft Office)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 dirty="0">
                <a:latin typeface="+mj-lt"/>
              </a:rPr>
              <a:t>(use over the internet with a browser, e.g. Gmail) 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 dirty="0">
                <a:latin typeface="+mj-lt"/>
              </a:rPr>
              <a:t>(e.g. HCI, Google AI)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A708E2-E46B-4881-38E6-B24187D0FB1B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4206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</a:rPr>
              <a:t>Myth 1:</a:t>
            </a:r>
            <a:r>
              <a:rPr lang="en-US" altLang="zh-TW" sz="2200" i="1" dirty="0"/>
              <a:t> </a:t>
            </a:r>
            <a:r>
              <a:rPr lang="en-US" altLang="zh-TW" sz="2200" dirty="0">
                <a:latin typeface="+mj-lt"/>
              </a:rPr>
              <a:t>We already have a book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full of standards and procedures </a:t>
            </a:r>
            <a:r>
              <a:rPr lang="en-US" altLang="zh-TW" sz="2200" dirty="0">
                <a:latin typeface="+mj-lt"/>
              </a:rPr>
              <a:t>for building software. Wouldn’t that provide my people with everything they need to know?</a:t>
            </a: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dirty="0">
                <a:latin typeface="+mj-lt"/>
              </a:rPr>
              <a:t> My people have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state-of-the-art software development tools; </a:t>
            </a:r>
            <a:r>
              <a:rPr lang="en-US" altLang="zh-TW" sz="2200" dirty="0">
                <a:latin typeface="+mj-lt"/>
              </a:rPr>
              <a:t>we buy them the newest computers.</a:t>
            </a:r>
            <a:br>
              <a:rPr lang="en-US" altLang="zh-TW" sz="2200" dirty="0">
                <a:latin typeface="+mj-lt"/>
              </a:rPr>
            </a:br>
            <a:endParaRPr lang="zh-TW" altLang="en-US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</a:t>
            </a:r>
            <a:r>
              <a:rPr lang="en-US" altLang="zh-TW" sz="2200" dirty="0">
                <a:solidFill>
                  <a:srgbClr val="FF0000"/>
                </a:solidFill>
              </a:rPr>
              <a:t>: </a:t>
            </a:r>
            <a:r>
              <a:rPr lang="en-US" altLang="zh-TW" sz="2200" dirty="0">
                <a:latin typeface="+mj-lt"/>
              </a:rPr>
              <a:t>If we get behind schedule, we can add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 dirty="0">
                <a:latin typeface="+mj-lt"/>
              </a:rPr>
              <a:t>and catch up.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If I outsource the software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 dirty="0">
                <a:latin typeface="+mj-lt"/>
              </a:rPr>
              <a:t>I can relax and let that firm build it.</a:t>
            </a:r>
          </a:p>
          <a:p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6BA8D7-B2BF-878A-7F0C-E10F2B006CC1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</a:t>
            </a:r>
            <a:r>
              <a:rPr lang="en-GB"/>
              <a:t>(client)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 </a:t>
            </a: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 dirty="0">
                <a:latin typeface="+mj-lt"/>
              </a:rPr>
              <a:t>of objectives is sufficient to begin writing programs – we can fill in the details later.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</a:t>
            </a:r>
            <a:r>
              <a:rPr lang="en-US" altLang="zh-TW" sz="2200" dirty="0">
                <a:latin typeface="+mj-lt"/>
              </a:rPr>
              <a:t> Project requirements continually change, but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change can be easily accommodated </a:t>
            </a:r>
            <a:r>
              <a:rPr lang="en-US" altLang="zh-TW" sz="2200" dirty="0">
                <a:latin typeface="+mj-lt"/>
              </a:rPr>
              <a:t>because software is flexible.</a:t>
            </a: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C9FB57-00F2-D2E7-4EC6-9EE8E146CDE7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(professional)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4206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</a:t>
            </a:r>
            <a:r>
              <a:rPr lang="en-US" altLang="zh-TW" sz="2200" dirty="0">
                <a:latin typeface="+mj-lt"/>
              </a:rPr>
              <a:t> Our job is done once we write the program and get it to work.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 dirty="0">
                <a:latin typeface="+mj-lt"/>
              </a:rPr>
              <a:t>Fact: 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 dirty="0">
                <a:solidFill>
                  <a:srgbClr val="FF0000"/>
                </a:solidFill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 </a:t>
            </a:r>
            <a:r>
              <a:rPr lang="en-US" altLang="zh-TW" sz="2200" dirty="0">
                <a:latin typeface="+mj-lt"/>
              </a:rPr>
              <a:t>I cannot assess the program's quality until it is “running. "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3:</a:t>
            </a:r>
            <a:r>
              <a:rPr lang="en-US" altLang="zh-TW" sz="2200" dirty="0">
                <a:latin typeface="+mj-lt"/>
              </a:rPr>
              <a:t> The working program is the only deliverable work product for a successful project.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4:</a:t>
            </a:r>
            <a:r>
              <a:rPr lang="en-US" altLang="zh-TW" sz="2200" i="1" dirty="0"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Software engineering will make us </a:t>
            </a:r>
            <a:r>
              <a:rPr lang="en-US" altLang="zh-TW" sz="2200">
                <a:latin typeface="+mj-lt"/>
              </a:rPr>
              <a:t>create very large </a:t>
            </a:r>
            <a:r>
              <a:rPr lang="en-US" altLang="zh-TW" sz="2200" dirty="0">
                <a:latin typeface="+mj-lt"/>
              </a:rPr>
              <a:t>and unnecessary documentation, invariably slowing us down.</a:t>
            </a:r>
            <a:endParaRPr lang="zh-TW" altLang="en-US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DEC8BA-A092-BA65-E675-604AB01E18B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system fails?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 system fails to meet the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 dirty="0">
                <a:latin typeface="+mj-lt"/>
              </a:rPr>
              <a:t>for which it was developed. The system is either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 dirty="0">
                <a:latin typeface="+mj-lt"/>
              </a:rPr>
              <a:t> or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 dirty="0">
                <a:latin typeface="+mj-lt"/>
              </a:rPr>
              <a:t>is undertaken.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There are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 dirty="0">
                <a:latin typeface="+mj-lt"/>
              </a:rPr>
              <a:t>in the system, which make it inadequate for the users’ needs. Again, it is either abandoned or amended incurring extra costs.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 dirty="0">
                <a:latin typeface="+mj-lt"/>
              </a:rPr>
              <a:t> appear in the developed system causing unexpected problems.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 dirty="0">
                <a:latin typeface="+mj-lt"/>
              </a:rPr>
              <a:t>have to be applied at extra cost.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 dirty="0">
                <a:latin typeface="+mj-lt"/>
              </a:rPr>
              <a:t>the implemented system, lack of involvement in its development or lack of commitment to it.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Systems are initially accepted but over time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 dirty="0">
                <a:latin typeface="+mj-lt"/>
              </a:rPr>
              <a:t>and so pass into disuse.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42047" cy="774419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980895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12C3B-B9B9-5739-8FF4-272BFD29E158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10" ma:contentTypeDescription="Create a new document." ma:contentTypeScope="" ma:versionID="c823fa5abc6434c529534b20fb383532">
  <xsd:schema xmlns:xsd="http://www.w3.org/2001/XMLSchema" xmlns:xs="http://www.w3.org/2001/XMLSchema" xmlns:p="http://schemas.microsoft.com/office/2006/metadata/properties" xmlns:ns2="76186025-a0d9-4e7f-b068-4d7f27a934af" xmlns:ns3="3aad5d91-f2db-4a1b-9283-0f202a4efe7d" targetNamespace="http://schemas.microsoft.com/office/2006/metadata/properties" ma:root="true" ma:fieldsID="f47a5c4433644f8114d4269f7d216095" ns2:_="" ns3:_="">
    <xsd:import namespace="76186025-a0d9-4e7f-b068-4d7f27a934af"/>
    <xsd:import namespace="3aad5d91-f2db-4a1b-9283-0f202a4efe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c387e96-56ce-4293-9bf0-c5d3fd96f7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ad5d91-f2db-4a1b-9283-0f202a4efe7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1285068-04dd-4274-b59d-5166468f7e91}" ma:internalName="TaxCatchAll" ma:showField="CatchAllData" ma:web="3aad5d91-f2db-4a1b-9283-0f202a4efe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aad5d91-f2db-4a1b-9283-0f202a4efe7d" xsi:nil="true"/>
    <lcf76f155ced4ddcb4097134ff3c332f xmlns="76186025-a0d9-4e7f-b068-4d7f27a934a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3CAA307-E773-4137-A143-541A621187C4}"/>
</file>

<file path=customXml/itemProps2.xml><?xml version="1.0" encoding="utf-8"?>
<ds:datastoreItem xmlns:ds="http://schemas.openxmlformats.org/officeDocument/2006/customXml" ds:itemID="{49939979-37FE-43F5-8059-0E443B405FBB}"/>
</file>

<file path=customXml/itemProps3.xml><?xml version="1.0" encoding="utf-8"?>
<ds:datastoreItem xmlns:ds="http://schemas.openxmlformats.org/officeDocument/2006/customXml" ds:itemID="{9F06D648-B23B-4F85-B9A5-D7B62C444FC3}"/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1033</Words>
  <Application>Microsoft Office PowerPoint</Application>
  <PresentationFormat>Widescreen</PresentationFormat>
  <Paragraphs>116</Paragraphs>
  <Slides>14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ＭＳ Ｐゴシック</vt:lpstr>
      <vt:lpstr>PMingLiU</vt:lpstr>
      <vt:lpstr>Bell MT</vt:lpstr>
      <vt:lpstr>Calibri</vt:lpstr>
      <vt:lpstr>Gill Sans MT</vt:lpstr>
      <vt:lpstr>Wingdings</vt:lpstr>
      <vt:lpstr>Wingdings 2</vt:lpstr>
      <vt:lpstr>Dividend</vt:lpstr>
      <vt:lpstr>Photo Editor Photo</vt:lpstr>
      <vt:lpstr>PowerPoint Presentation</vt:lpstr>
      <vt:lpstr>what is Software engineering?</vt:lpstr>
      <vt:lpstr>Scope of software Engineering</vt:lpstr>
      <vt:lpstr>Software characteristics</vt:lpstr>
      <vt:lpstr>Software development life cycle (SDLC)</vt:lpstr>
      <vt:lpstr>Software development life cycle (SDLC)</vt:lpstr>
      <vt:lpstr>Good &amp; bad software</vt:lpstr>
      <vt:lpstr>Cost of detection &amp; correction of a fault</vt:lpstr>
      <vt:lpstr>Software application</vt:lpstr>
      <vt:lpstr>Software Myths (management)</vt:lpstr>
      <vt:lpstr>Software Myths (client)</vt:lpstr>
      <vt:lpstr>Software Myths (professional)</vt:lpstr>
      <vt:lpstr>Why system fails?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subject>Software Engineering</dc:subject>
  <dc:creator>M. Mahmudul Hasan</dc:creator>
  <cp:lastModifiedBy>Jubayer Ahamed</cp:lastModifiedBy>
  <cp:revision>50</cp:revision>
  <dcterms:created xsi:type="dcterms:W3CDTF">2019-05-13T08:37:20Z</dcterms:created>
  <dcterms:modified xsi:type="dcterms:W3CDTF">2026-02-03T08:47:24Z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